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</c:v>
                </c:pt>
              </c:strCache>
            </c:strRef>
          </c:tx>
          <c:spPr>
            <a:solidFill>
              <a:srgbClr val="2FBF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Applied</c:v>
                  </c:pt>
                  <c:pt idx="1">
                    <c:v>Recruiter Screen</c:v>
                  </c:pt>
                  <c:pt idx="2">
                    <c:v>Hiring Manager Review</c:v>
                  </c:pt>
                  <c:pt idx="3">
                    <c:v>Technical Assessment</c:v>
                  </c:pt>
                  <c:pt idx="4">
                    <c:v>Panel Interview</c:v>
                  </c:pt>
                  <c:pt idx="5">
                    <c:v>Final Interview</c:v>
                  </c:pt>
                  <c:pt idx="6">
                    <c:v>Offer Extended</c:v>
                  </c:pt>
                  <c:pt idx="7">
                    <c:v>Offer Accepted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7091</c:v>
                </c:pt>
                <c:pt idx="1">
                  <c:v>2893</c:v>
                </c:pt>
                <c:pt idx="2">
                  <c:v>1572</c:v>
                </c:pt>
                <c:pt idx="3">
                  <c:v>709</c:v>
                </c:pt>
                <c:pt idx="4">
                  <c:v>499</c:v>
                </c:pt>
                <c:pt idx="5">
                  <c:v>310</c:v>
                </c:pt>
                <c:pt idx="6">
                  <c:v>175</c:v>
                </c:pt>
                <c:pt idx="7">
                  <c:v>133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242D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130"/>
        </a:solidFill>
        <a:ln w="12700" cap="flat">
          <a:solidFill>
            <a:srgbClr val="1A2130"/>
          </a:solidFill>
        </a:ln>
        <a:effectLst/>
      </c:spPr>
    </c:plotArea>
    <c:plotVisOnly val="1"/>
    <c:dispBlanksAs val="span"/>
  </c:chart>
  <c:spPr>
    <a:solidFill>
      <a:srgbClr val="1A21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Leakage %</c:v>
                </c:pt>
              </c:strCache>
            </c:strRef>
          </c:tx>
          <c:spPr>
            <a:solidFill>
              <a:srgbClr val="EF64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64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0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64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BF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A0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A0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BF9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Applied</c:v>
                  </c:pt>
                  <c:pt idx="1">
                    <c:v>Recruiter Screen</c:v>
                  </c:pt>
                  <c:pt idx="2">
                    <c:v>Hiring Manager Review</c:v>
                  </c:pt>
                  <c:pt idx="3">
                    <c:v>Technical Assessment</c:v>
                  </c:pt>
                  <c:pt idx="4">
                    <c:v>Panel Interview</c:v>
                  </c:pt>
                  <c:pt idx="5">
                    <c:v>Final Interview</c:v>
                  </c:pt>
                  <c:pt idx="6">
                    <c:v>Offer Extended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59.2</c:v>
                </c:pt>
                <c:pt idx="1">
                  <c:v>45.7</c:v>
                </c:pt>
                <c:pt idx="2">
                  <c:v>54.9</c:v>
                </c:pt>
                <c:pt idx="3">
                  <c:v>29.6</c:v>
                </c:pt>
                <c:pt idx="4">
                  <c:v>37.9</c:v>
                </c:pt>
                <c:pt idx="5">
                  <c:v>43.5</c:v>
                </c:pt>
                <c:pt idx="6">
                  <c:v>24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242D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130"/>
        </a:solidFill>
        <a:ln w="12700" cap="flat">
          <a:solidFill>
            <a:srgbClr val="1A2130"/>
          </a:solidFill>
        </a:ln>
        <a:effectLst/>
      </c:spPr>
    </c:plotArea>
    <c:plotVisOnly val="1"/>
    <c:dispBlanksAs val="span"/>
  </c:chart>
  <c:spPr>
    <a:solidFill>
      <a:srgbClr val="1A21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F2A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Junior</c:v>
                  </c:pt>
                  <c:pt idx="1">
                    <c:v>Mid</c:v>
                  </c:pt>
                  <c:pt idx="2">
                    <c:v>Senior</c:v>
                  </c:pt>
                  <c:pt idx="3">
                    <c:v>Manager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29.4</c:v>
                </c:pt>
                <c:pt idx="1">
                  <c:v>51.2</c:v>
                </c:pt>
                <c:pt idx="2">
                  <c:v>104.8</c:v>
                </c:pt>
                <c:pt idx="3">
                  <c:v>145.3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2FBF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Junior</c:v>
                  </c:pt>
                  <c:pt idx="1">
                    <c:v>Mid</c:v>
                  </c:pt>
                  <c:pt idx="2">
                    <c:v>Senior</c:v>
                  </c:pt>
                  <c:pt idx="3">
                    <c:v>Manager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</c:v>
                </c:pt>
                <c:pt idx="1">
                  <c:v>50.5</c:v>
                </c:pt>
                <c:pt idx="2">
                  <c:v>100.5</c:v>
                </c:pt>
                <c:pt idx="3">
                  <c:v>139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P90</c:v>
                </c:pt>
              </c:strCache>
            </c:strRef>
          </c:tx>
          <c:spPr>
            <a:solidFill>
              <a:srgbClr val="EF64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Junior</c:v>
                  </c:pt>
                  <c:pt idx="1">
                    <c:v>Mid</c:v>
                  </c:pt>
                  <c:pt idx="2">
                    <c:v>Senior</c:v>
                  </c:pt>
                  <c:pt idx="3">
                    <c:v>Manager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45.4</c:v>
                </c:pt>
                <c:pt idx="1">
                  <c:v>74.9</c:v>
                </c:pt>
                <c:pt idx="2">
                  <c:v>149.7</c:v>
                </c:pt>
                <c:pt idx="3">
                  <c:v>197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42D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130"/>
        </a:solidFill>
        <a:ln w="12700" cap="flat">
          <a:solidFill>
            <a:srgbClr val="1A2130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4A3B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A213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 in Stage</c:v>
                </c:pt>
              </c:strCache>
            </c:strRef>
          </c:tx>
          <c:spPr>
            <a:solidFill>
              <a:srgbClr val="8B7B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Applied</c:v>
                  </c:pt>
                  <c:pt idx="1">
                    <c:v>Recruiter Screen</c:v>
                  </c:pt>
                  <c:pt idx="2">
                    <c:v>Hiring Manager Review</c:v>
                  </c:pt>
                  <c:pt idx="3">
                    <c:v>Technical Assessment</c:v>
                  </c:pt>
                  <c:pt idx="4">
                    <c:v>Panel Interview</c:v>
                  </c:pt>
                  <c:pt idx="5">
                    <c:v>Final Interview</c:v>
                  </c:pt>
                  <c:pt idx="6">
                    <c:v>Offer Extended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1.7</c:v>
                </c:pt>
                <c:pt idx="1">
                  <c:v>3.4</c:v>
                </c:pt>
                <c:pt idx="2">
                  <c:v>7.7</c:v>
                </c:pt>
                <c:pt idx="3">
                  <c:v>5.5</c:v>
                </c:pt>
                <c:pt idx="4">
                  <c:v>7.4</c:v>
                </c:pt>
                <c:pt idx="5">
                  <c:v>6</c:v>
                </c:pt>
                <c:pt idx="6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SLA Days</c:v>
                </c:pt>
              </c:strCache>
            </c:strRef>
          </c:tx>
          <c:spPr>
            <a:solidFill>
              <a:srgbClr val="3A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Applied</c:v>
                  </c:pt>
                  <c:pt idx="1">
                    <c:v>Recruiter Screen</c:v>
                  </c:pt>
                  <c:pt idx="2">
                    <c:v>Hiring Manager Review</c:v>
                  </c:pt>
                  <c:pt idx="3">
                    <c:v>Technical Assessment</c:v>
                  </c:pt>
                  <c:pt idx="4">
                    <c:v>Panel Interview</c:v>
                  </c:pt>
                  <c:pt idx="5">
                    <c:v>Final Interview</c:v>
                  </c:pt>
                  <c:pt idx="6">
                    <c:v>Offer Extended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5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42D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130"/>
        </a:solidFill>
        <a:ln w="12700" cap="flat">
          <a:solidFill>
            <a:srgbClr val="1A2130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4A3B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A213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Leakage Count</c:v>
                </c:pt>
              </c:strCache>
            </c:strRef>
          </c:tx>
          <c:spPr>
            <a:solidFill>
              <a:srgbClr val="EF64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Recruiter Screen</c:v>
                  </c:pt>
                  <c:pt idx="1">
                    <c:v>Hiring Manager Review</c:v>
                  </c:pt>
                  <c:pt idx="2">
                    <c:v>Technical Assessment</c:v>
                  </c:pt>
                  <c:pt idx="3">
                    <c:v>Panel Interview</c:v>
                  </c:pt>
                  <c:pt idx="4">
                    <c:v>Final Interview</c:v>
                  </c:pt>
                  <c:pt idx="5">
                    <c:v>Offer Extended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1321</c:v>
                </c:pt>
                <c:pt idx="1">
                  <c:v>863</c:v>
                </c:pt>
                <c:pt idx="2">
                  <c:v>210</c:v>
                </c:pt>
                <c:pt idx="3">
                  <c:v>189</c:v>
                </c:pt>
                <c:pt idx="4">
                  <c:v>135</c:v>
                </c:pt>
                <c:pt idx="5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Leakage Rate %</c:v>
                </c:pt>
              </c:strCache>
            </c:strRef>
          </c:tx>
          <c:spPr>
            <a:solidFill>
              <a:srgbClr val="F2A03D"/>
            </a:solidFill>
            <a:ln w="25400" cap="flat">
              <a:solidFill>
                <a:srgbClr val="F2A0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03D"/>
              </a:solidFill>
              <a:ln w="9525" cap="flat">
                <a:solidFill>
                  <a:srgbClr val="F2A0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Recruiter Screen</c:v>
                  </c:pt>
                  <c:pt idx="1">
                    <c:v>Hiring Manager Review</c:v>
                  </c:pt>
                  <c:pt idx="2">
                    <c:v>Technical Assessment</c:v>
                  </c:pt>
                  <c:pt idx="3">
                    <c:v>Panel Interview</c:v>
                  </c:pt>
                  <c:pt idx="4">
                    <c:v>Final Interview</c:v>
                  </c:pt>
                  <c:pt idx="5">
                    <c:v>Offer Extended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45.7</c:v>
                </c:pt>
                <c:pt idx="1">
                  <c:v>54.9</c:v>
                </c:pt>
                <c:pt idx="2">
                  <c:v>29.6</c:v>
                </c:pt>
                <c:pt idx="3">
                  <c:v>37.9</c:v>
                </c:pt>
                <c:pt idx="4">
                  <c:v>43.5</c:v>
                </c:pt>
                <c:pt idx="5">
                  <c:v>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42D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7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2A03D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1A2130"/>
        </a:solidFill>
        <a:ln w="12700" cap="flat">
          <a:solidFill>
            <a:srgbClr val="1A2130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4A3B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A213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Loss owner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BF9E"/>
              </a:solidFill>
              <a:effectLst/>
            </c:spPr>
          </c:dPt>
          <c:dPt>
            <c:idx val="1"/>
            <c:bubble3D val="0"/>
            <c:spPr>
              <a:solidFill>
                <a:srgbClr val="EF6461"/>
              </a:solidFill>
              <a:effectLst/>
            </c:spPr>
          </c:dPt>
          <c:dPt>
            <c:idx val="2"/>
            <c:bubble3D val="0"/>
            <c:spPr>
              <a:solidFill>
                <a:srgbClr val="F2A03D"/>
              </a:solidFill>
              <a:effectLst/>
            </c:spPr>
          </c:dPt>
          <c:dPt>
            <c:idx val="3"/>
            <c:bubble3D val="0"/>
            <c:spPr>
              <a:solidFill>
                <a:srgbClr val="8B7B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6ECF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6ECF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6ECF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6ECF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Recruiter</c:v>
                </c:pt>
                <c:pt idx="1">
                  <c:v>Candidate</c:v>
                </c:pt>
                <c:pt idx="2">
                  <c:v>Company</c:v>
                </c:pt>
                <c:pt idx="3">
                  <c:v>Hiring Manager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2951</c:v>
                </c:pt>
                <c:pt idx="1">
                  <c:v>1873</c:v>
                </c:pt>
                <c:pt idx="2">
                  <c:v>1751</c:v>
                </c:pt>
                <c:pt idx="3">
                  <c:v>309</c:v>
                </c:pt>
              </c:numCache>
            </c:numRef>
          </c:val>
        </c:ser>
        <c:firstSliceAng val="0"/>
        <c:holeSize val="52"/>
      </c:doughnutChart>
      <c:spPr>
        <a:solidFill>
          <a:srgbClr val="1A2130"/>
        </a:solidFill>
        <a:ln w="12700" cap="flat">
          <a:solidFill>
            <a:srgbClr val="1A2130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94A3B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A213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3A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Employee Referral</c:v>
                  </c:pt>
                  <c:pt idx="1">
                    <c:v>Agency - Executive</c:v>
                  </c:pt>
                  <c:pt idx="2">
                    <c:v>LinkedIn Recruiter</c:v>
                  </c:pt>
                  <c:pt idx="3">
                    <c:v>Talent Pool / Rehire</c:v>
                  </c:pt>
                  <c:pt idx="4">
                    <c:v>Company Career Site</c:v>
                  </c:pt>
                  <c:pt idx="5">
                    <c:v>Campus Hiring</c:v>
                  </c:pt>
                  <c:pt idx="6">
                    <c:v>JobStreet</c:v>
                  </c:pt>
                  <c:pt idx="7">
                    <c:v>Glints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1812</c:v>
                </c:pt>
                <c:pt idx="1">
                  <c:v>1239</c:v>
                </c:pt>
                <c:pt idx="2">
                  <c:v>1071</c:v>
                </c:pt>
                <c:pt idx="3">
                  <c:v>925</c:v>
                </c:pt>
                <c:pt idx="4">
                  <c:v>689</c:v>
                </c:pt>
                <c:pt idx="5">
                  <c:v>568</c:v>
                </c:pt>
                <c:pt idx="6">
                  <c:v>407</c:v>
                </c:pt>
                <c:pt idx="7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Yield Rate %</c:v>
                </c:pt>
              </c:strCache>
            </c:strRef>
          </c:tx>
          <c:spPr>
            <a:solidFill>
              <a:srgbClr val="2FBF9E"/>
            </a:solidFill>
            <a:ln w="25400" cap="flat">
              <a:solidFill>
                <a:srgbClr val="2FBF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BF9E"/>
              </a:solidFill>
              <a:ln w="9525" cap="flat">
                <a:solidFill>
                  <a:srgbClr val="2FBF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Employee Referral</c:v>
                  </c:pt>
                  <c:pt idx="1">
                    <c:v>Agency - Executive</c:v>
                  </c:pt>
                  <c:pt idx="2">
                    <c:v>LinkedIn Recruiter</c:v>
                  </c:pt>
                  <c:pt idx="3">
                    <c:v>Talent Pool / Rehire</c:v>
                  </c:pt>
                  <c:pt idx="4">
                    <c:v>Company Career Site</c:v>
                  </c:pt>
                  <c:pt idx="5">
                    <c:v>Campus Hiring</c:v>
                  </c:pt>
                  <c:pt idx="6">
                    <c:v>JobStreet</c:v>
                  </c:pt>
                  <c:pt idx="7">
                    <c:v>Glints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1.66</c:v>
                </c:pt>
                <c:pt idx="1">
                  <c:v>1.69</c:v>
                </c:pt>
                <c:pt idx="2">
                  <c:v>1.59</c:v>
                </c:pt>
                <c:pt idx="3">
                  <c:v>2.27</c:v>
                </c:pt>
                <c:pt idx="4">
                  <c:v>2.18</c:v>
                </c:pt>
                <c:pt idx="5">
                  <c:v>2.64</c:v>
                </c:pt>
                <c:pt idx="6">
                  <c:v>1.97</c:v>
                </c:pt>
                <c:pt idx="7">
                  <c:v>1.58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42D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FBF9E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1A2130"/>
        </a:solidFill>
        <a:ln w="12700" cap="flat">
          <a:solidFill>
            <a:srgbClr val="1A2130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4A3B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A213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Requisitions</c:v>
                </c:pt>
              </c:strCache>
            </c:strRef>
          </c:tx>
          <c:spPr>
            <a:solidFill>
              <a:srgbClr val="2FBF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BF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BF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0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646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0-30 Days</c:v>
                  </c:pt>
                  <c:pt idx="1">
                    <c:v>31-60 Days</c:v>
                  </c:pt>
                  <c:pt idx="2">
                    <c:v>61-90 Days</c:v>
                  </c:pt>
                  <c:pt idx="3">
                    <c:v>90+ Days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242D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130"/>
        </a:solidFill>
        <a:ln w="12700" cap="flat">
          <a:solidFill>
            <a:srgbClr val="1A2130"/>
          </a:solidFill>
        </a:ln>
        <a:effectLst/>
      </c:spPr>
    </c:plotArea>
    <c:plotVisOnly val="1"/>
    <c:dispBlanksAs val="span"/>
  </c:chart>
  <c:spPr>
    <a:solidFill>
      <a:srgbClr val="1A21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maps each report page to the business question it answers, then shows the DAX behind the numbers. Sample data: 160 requisitions, 7,091 applications, Jan 2024 to Jun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distinct problems: speed, leakage, and ownership of that leakage. No single KPI can carry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clocks measure speed, the funnel measures leakage. You need both to explain why a role takes so long to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ATS only exports applications and hires, per-stage leakage cannot be computed. FactStageEvent is the minimum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is for the CHRO and hiring leaders. One screen, no scrolling, straight into detail via the buttons.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DISTINCTCOUNT is used because one candidate can have more than one event in the same stage if the process loops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 - Leakage is bound through conditional formatting by Field value, so the thresholds live in the model rather than in each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is for the TA lead. The question is not whether it is slow, but which part is slow and who owns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 ISBLANK filter matters: still-open requisitions must not drag the average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slide against the leakage slide: a stage that is both slow and lossy is fix number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rejection-versus-withdrawal distinction is the heart of this page. Rejection is selection working; withdrawal is us losing.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fix the stage with the largest leakage count first, not the largest percentage.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only one number can go to a leadership meeting, take Company-Caused Loss Rate. It is the only one entirely in our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using this page to judge recruiters. Their role mix differs; always read it alongside job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FurthestStageOrder &gt;= 4 reads a column on FactApplication rather than FactStageEvent, so each candidate is counted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ratio is the earliest indicator there is. When it drops, next month's time-to-fill will 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TODAY() makes this column shift on every refresh. On a large model, consider a measure with a snapshot date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_Measures is a calculated table, ROW("Placeholder", BLANK()), with its column hidden. Every measure is grouped via displayFolder.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maps one decision to one measure. If a measure changes no decision, it does not need to be on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in this deck is computed directly from the sample CSVs shipped with the PBIP, so the mockups and the model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Time-to-Fill &amp;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Recruiting Funnel Leakage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272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“how long does hiring take”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semantic model and 5-page report. Every chart, its numbers, and the DAX behind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3434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47141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 TO FILL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4727448"/>
            <a:ext cx="21122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73.6 days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0" y="43434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75888" y="447141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LEAK: HM REVIEW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4727448"/>
            <a:ext cx="21122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F6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54.9%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43434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447141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PER HIRE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4727448"/>
            <a:ext cx="21122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53.3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Time-to-fill answers the wrong question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average hides three completely different problems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average misleads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73.6 vs 61.5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73.6 days, median 61.5, P90 140.4. One role in ten takes more than 140 days — that is the one hiring managers remember.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298448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8848" y="1481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clocks nobody counts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1874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+ 73.6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65176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approval lag of 7.2 days before the job is even posted, then 109.1 days until the person actually starts work.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298448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1896" y="1481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leakage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11896" y="1874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53.3 : 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311896" y="265176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7,091 applications produced 133 hires. Time-to-fill never tells you which stage lost the other 6,958.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measures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074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— approval lag, time to fill, time to start, median and P90, not just the average.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leaks — pass-through and leakage rate per stage, from application to accepted offer.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caused it — candidates withdrawing, recruiter rejections, or our own process being too slow.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framework: three clocks and one funnel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report page answers one slice of this framework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457200" cy="457200"/>
          </a:xfrm>
          <a:prstGeom prst="ellipse">
            <a:avLst/>
          </a:prstGeom>
          <a:solidFill>
            <a:srgbClr val="8B7BD8"/>
          </a:solidFill>
          <a:ln w="12700">
            <a:solidFill>
              <a:srgbClr val="8B7B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361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81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Lag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556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Posted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48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7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days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270248" y="1298448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1481328"/>
            <a:ext cx="457200" cy="457200"/>
          </a:xfrm>
          <a:prstGeom prst="ellipse">
            <a:avLst/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8848" y="15361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93208" y="1481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Fill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93208" y="17556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→ Offer accepted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148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73.6 days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83296" y="1298448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1896" y="1481328"/>
            <a:ext cx="457200" cy="457200"/>
          </a:xfrm>
          <a:prstGeom prst="ellipse">
            <a:avLst/>
          </a:prstGeom>
          <a:solidFill>
            <a:srgbClr val="EF6461"/>
          </a:solidFill>
          <a:ln w="12700">
            <a:solidFill>
              <a:srgbClr val="EF64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11896" y="15361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06256" y="1481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Start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06256" y="17556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→ First working day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11896" y="2148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6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109.1 days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11247120" cy="3108960"/>
          </a:xfrm>
          <a:prstGeom prst="roundRect">
            <a:avLst>
              <a:gd name="adj" fmla="val 235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182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funnel: 8 stages, each with its own pass-through and leakage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" y="3803904"/>
            <a:ext cx="1239012" cy="1426464"/>
          </a:xfrm>
          <a:prstGeom prst="roundRect">
            <a:avLst>
              <a:gd name="adj" fmla="val 3690"/>
            </a:avLst>
          </a:prstGeom>
          <a:solidFill>
            <a:srgbClr val="EF6461"/>
          </a:solidFill>
          <a:ln w="12700">
            <a:solidFill>
              <a:srgbClr val="EF64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547872"/>
            <a:ext cx="134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7,091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285232"/>
            <a:ext cx="1348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760720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59.2%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89404" y="4226724"/>
            <a:ext cx="1239012" cy="1003644"/>
          </a:xfrm>
          <a:prstGeom prst="roundRect">
            <a:avLst>
              <a:gd name="adj" fmla="val 4555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34540" y="3970692"/>
            <a:ext cx="134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2,893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034540" y="5285232"/>
            <a:ext cx="1348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Screen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2034540" y="5760720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45.7%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38144" y="4422865"/>
            <a:ext cx="1239012" cy="807503"/>
          </a:xfrm>
          <a:prstGeom prst="roundRect">
            <a:avLst>
              <a:gd name="adj" fmla="val 5662"/>
            </a:avLst>
          </a:prstGeom>
          <a:solidFill>
            <a:srgbClr val="EF6461"/>
          </a:solidFill>
          <a:ln w="12700">
            <a:solidFill>
              <a:srgbClr val="EF64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83280" y="4166833"/>
            <a:ext cx="134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1,572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5285232"/>
            <a:ext cx="1348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 Review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3383280" y="5760720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54.9%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86884" y="4604213"/>
            <a:ext cx="1239012" cy="626155"/>
          </a:xfrm>
          <a:prstGeom prst="roundRect">
            <a:avLst>
              <a:gd name="adj" fmla="val 7302"/>
            </a:avLst>
          </a:prstGeom>
          <a:solidFill>
            <a:srgbClr val="2FBF9E"/>
          </a:solidFill>
          <a:ln w="12700">
            <a:solidFill>
              <a:srgbClr val="2FBF9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32020" y="4348181"/>
            <a:ext cx="134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709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732020" y="5285232"/>
            <a:ext cx="1348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Assessment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732020" y="5760720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29.6%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35624" y="4664669"/>
            <a:ext cx="1239012" cy="565699"/>
          </a:xfrm>
          <a:prstGeom prst="roundRect">
            <a:avLst>
              <a:gd name="adj" fmla="val 8082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80760" y="4408637"/>
            <a:ext cx="134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499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080760" y="5285232"/>
            <a:ext cx="1348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Interview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080760" y="5760720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37.9%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84364" y="4728824"/>
            <a:ext cx="1239012" cy="501544"/>
          </a:xfrm>
          <a:prstGeom prst="roundRect">
            <a:avLst>
              <a:gd name="adj" fmla="val 9116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29500" y="4472792"/>
            <a:ext cx="134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429500" y="5285232"/>
            <a:ext cx="1348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Interview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7429500" y="5760720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43.5%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833104" y="4789274"/>
            <a:ext cx="1239012" cy="441094"/>
          </a:xfrm>
          <a:prstGeom prst="roundRect">
            <a:avLst>
              <a:gd name="adj" fmla="val 10365"/>
            </a:avLst>
          </a:prstGeom>
          <a:solidFill>
            <a:srgbClr val="2FBF9E"/>
          </a:solidFill>
          <a:ln w="12700">
            <a:solidFill>
              <a:srgbClr val="2FBF9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778240" y="4533242"/>
            <a:ext cx="134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778240" y="5285232"/>
            <a:ext cx="1348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Extended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8778240" y="5760720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24%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181844" y="4813003"/>
            <a:ext cx="1239012" cy="417365"/>
          </a:xfrm>
          <a:prstGeom prst="roundRect">
            <a:avLst>
              <a:gd name="adj" fmla="val 10954"/>
            </a:avLst>
          </a:prstGeom>
          <a:solidFill>
            <a:srgbClr val="2FBF9E"/>
          </a:solidFill>
          <a:ln w="12700">
            <a:solidFill>
              <a:srgbClr val="2FBF9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126980" y="4556971"/>
            <a:ext cx="134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0126980" y="5285232"/>
            <a:ext cx="1348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Accepted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10126980" y="5760720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0%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685800" y="598017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≥ 50% leakage · Amber 35–50% · Green &lt; 35%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model: three facts, one grain each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FactStageEvent is the key — without a row per stage, leakage cannot be measured at all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FactRequisition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739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= 1 open role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665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 rows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ReqID · PostedDate · OfferAcceptedDate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StartDate · TargetDays · ReqStatus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70248" y="1298448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463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FactApplication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17739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= 1 application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0665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7,091 rows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ApplicationID · ReqID · SourceID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FurthestStageOrder · FinalStatus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83296" y="1298448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11896" y="1463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FactStageEvent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17739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= 1 candidate entering 1 stage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20665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13,382 rows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ApplicationID · StageID · EnterDate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DaysInStage · Outcome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749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0690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 — 912 days, active relationship to the requisition PostedDate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DimStage — 8 stages with StageOrder and a per-stage SLADays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DimSource — 8 channels plus a benchmark yield 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DimRejectReason — the reason plus ResponsibleParty, who caused the loss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DimJob, DimRecruiter — standard lookups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3611880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0840" y="3749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relationships left inactive on purpose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4069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 is active only to FactRequisition[PostedDateKey]. The two other date relationships stay inactive so the model has no ambiguous filter paths.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709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 by Applied Date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[Total Applications],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USERELATIONSHIP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FactApplication[AppliedDateKey],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DimDate[DateKey]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 — 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long, how leaky, and where to click next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161288"/>
            <a:ext cx="7095744" cy="5084064"/>
          </a:xfrm>
          <a:prstGeom prst="roundRect">
            <a:avLst>
              <a:gd name="adj" fmla="val 1439"/>
            </a:avLst>
          </a:prstGeom>
          <a:solidFill>
            <a:srgbClr val="0B0F16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189" y="1382573"/>
            <a:ext cx="1223101" cy="790042"/>
          </a:xfrm>
          <a:prstGeom prst="roundRect">
            <a:avLst>
              <a:gd name="adj" fmla="val 694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9341" y="1428293"/>
            <a:ext cx="1076797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TTF 73.6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958279" y="1382573"/>
            <a:ext cx="1223101" cy="790042"/>
          </a:xfrm>
          <a:prstGeom prst="roundRect">
            <a:avLst>
              <a:gd name="adj" fmla="val 694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31431" y="1428293"/>
            <a:ext cx="1076797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61.5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320369" y="1382573"/>
            <a:ext cx="1223101" cy="790042"/>
          </a:xfrm>
          <a:prstGeom prst="roundRect">
            <a:avLst>
              <a:gd name="adj" fmla="val 694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3521" y="1428293"/>
            <a:ext cx="1076797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P90 140.4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82460" y="1382573"/>
            <a:ext cx="1223101" cy="790042"/>
          </a:xfrm>
          <a:prstGeom prst="roundRect">
            <a:avLst>
              <a:gd name="adj" fmla="val 694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5612" y="1428293"/>
            <a:ext cx="1076797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APPLIED→HIRE 1.88%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44550" y="1382573"/>
            <a:ext cx="1223101" cy="790042"/>
          </a:xfrm>
          <a:prstGeom prst="roundRect">
            <a:avLst>
              <a:gd name="adj" fmla="val 694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17702" y="1428293"/>
            <a:ext cx="1076797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 76%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6189" y="2320747"/>
            <a:ext cx="3266237" cy="1975104"/>
          </a:xfrm>
          <a:prstGeom prst="roundRect">
            <a:avLst>
              <a:gd name="adj" fmla="val 2778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9341" y="2366467"/>
            <a:ext cx="3119933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— candidates per stage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01414" y="2320747"/>
            <a:ext cx="3266237" cy="1975104"/>
          </a:xfrm>
          <a:prstGeom prst="roundRect">
            <a:avLst>
              <a:gd name="adj" fmla="val 2778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74566" y="2366467"/>
            <a:ext cx="3119933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RATE per stage (bar)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6189" y="4443984"/>
            <a:ext cx="1563624" cy="641909"/>
          </a:xfrm>
          <a:prstGeom prst="roundRect">
            <a:avLst>
              <a:gd name="adj" fmla="val 8547"/>
            </a:avLst>
          </a:prstGeom>
          <a:solidFill>
            <a:srgbClr val="1A2130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1" y="4489704"/>
            <a:ext cx="141732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Fill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98802" y="4443984"/>
            <a:ext cx="1563624" cy="641909"/>
          </a:xfrm>
          <a:prstGeom prst="roundRect">
            <a:avLst>
              <a:gd name="adj" fmla="val 8547"/>
            </a:avLst>
          </a:prstGeom>
          <a:solidFill>
            <a:srgbClr val="1A2130"/>
          </a:solidFill>
          <a:ln w="12700">
            <a:solidFill>
              <a:srgbClr val="EF64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71954" y="4489704"/>
            <a:ext cx="141732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Leakage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01414" y="4443984"/>
            <a:ext cx="1563624" cy="641909"/>
          </a:xfrm>
          <a:prstGeom prst="roundRect">
            <a:avLst>
              <a:gd name="adj" fmla="val 8547"/>
            </a:avLst>
          </a:prstGeom>
          <a:solidFill>
            <a:srgbClr val="1A2130"/>
          </a:solidFill>
          <a:ln w="12700">
            <a:solidFill>
              <a:srgbClr val="2FBF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74566" y="4489704"/>
            <a:ext cx="141732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Channel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04027" y="4443984"/>
            <a:ext cx="1563624" cy="641909"/>
          </a:xfrm>
          <a:prstGeom prst="roundRect">
            <a:avLst>
              <a:gd name="adj" fmla="val 8547"/>
            </a:avLst>
          </a:prstGeom>
          <a:solidFill>
            <a:srgbClr val="1A2130"/>
          </a:solidFill>
          <a:ln w="12700">
            <a:solidFill>
              <a:srgbClr val="8B7B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77179" y="4489704"/>
            <a:ext cx="141732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6189" y="5234026"/>
            <a:ext cx="6671462" cy="790042"/>
          </a:xfrm>
          <a:prstGeom prst="roundRect">
            <a:avLst>
              <a:gd name="adj" fmla="val 694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1" y="5279746"/>
            <a:ext cx="6525158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 to Fill by Posting Month (line)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80960" y="1234440"/>
            <a:ext cx="4023360" cy="4937760"/>
          </a:xfrm>
          <a:prstGeom prst="roundRect">
            <a:avLst>
              <a:gd name="adj" fmla="val 1818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82128" y="137160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 THE PAGE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882128" y="1673352"/>
            <a:ext cx="36210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KPI cards: average, median and P90 time to fill, applied-to-hire, and offer acceptance.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on the left shows volume per stage; the leakage bars on the right point straight at the worst stage.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navigation buttons into the detail pages, using the Page Navigation action.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trend at the bottom, so the reader knows whether the headline number is improving or decaying.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 slicers on every detail page: posting month, department, job level.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candidate funnel by stage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survive, measured against the top of the funnel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01968" y="132588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601968" y="1627632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7,091 applications narrow to 133 hires — a ratio of 53.3 : 1.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steepest drop happens before any human looks at a candidate: only 40.8% clear the first screen.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Technical Assessment only 10% of the original applicants remain — the pipeline is already very thin here.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from Applied is used rather than pass-through, so the reader sees survival against the top of the funnel.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590288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82896"/>
            <a:ext cx="10881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 Reaching Stage = DISTINCTCOUNT ( FactStageEvent[ApplicationID]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 from Applied =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AppliedCount =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 ( [Candidates Reaching Stage], ALL ( DimStage ), DimStage[StageOrder] = 1 )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DIVIDE ( [Candidates Reaching Stage], AppliedCount )   -- ALL(DimStage) drops the stage filter,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-- so the denominator is always stage 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leakage rate by stage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candidates who enter a stage and never leave it for the next one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01968" y="132588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601968" y="1627632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 Review leaks 54.9% — 863 candidates, second only to the initial screen.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stage is also the slowest: 7.7 days against a 4-day SLA. Slow and lossy is the worst combination.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Extended leaks 24%. Only 42 people, but these are the most expensive candidates to lose.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rate alone misleads — pair it with Leakage Count to know what is worth fixing first.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590288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82896"/>
            <a:ext cx="10881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 Advanced =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 ( [Candidates Reaching Stage], FactStageEvent[Outcome] IN { "Advanced", "Hired" }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Pass-Through Rate = DIVIDE ( [Candidates Advanced], [Candidates Reaching Stage]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Leakage Count     = [Candidates Reaching Stage] - [Candidates Advanced]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Leakage Rate      = DIVIDE ( [Leakage Count], [Candidates Reaching Stage]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- Leakage = SWITCH ( TRUE (),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[Leakage Rate] &gt;= 0.50, "#EF6461", [Leakage Rate] &gt;= 0.35, "#F2A03D", "#2FBF9E" 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 — Time to Fill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the three clocks that usually get collapsed into one number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161288"/>
            <a:ext cx="7095744" cy="5084064"/>
          </a:xfrm>
          <a:prstGeom prst="roundRect">
            <a:avLst>
              <a:gd name="adj" fmla="val 1439"/>
            </a:avLst>
          </a:prstGeom>
          <a:solidFill>
            <a:srgbClr val="0B0F16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189" y="1382573"/>
            <a:ext cx="1007669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9341" y="1428293"/>
            <a:ext cx="86136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LAG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728948" y="1382573"/>
            <a:ext cx="1007669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02100" y="1428293"/>
            <a:ext cx="86136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FILL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861706" y="1382573"/>
            <a:ext cx="1007669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34858" y="1428293"/>
            <a:ext cx="86136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START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94465" y="1382573"/>
            <a:ext cx="1007669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67617" y="1428293"/>
            <a:ext cx="86136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127224" y="1382573"/>
            <a:ext cx="1007669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00376" y="1428293"/>
            <a:ext cx="86136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259982" y="1382573"/>
            <a:ext cx="1007669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3134" y="1428293"/>
            <a:ext cx="86136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SLA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6189" y="2271370"/>
            <a:ext cx="4169664" cy="1777594"/>
          </a:xfrm>
          <a:prstGeom prst="roundRect">
            <a:avLst>
              <a:gd name="adj" fmla="val 3086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1" y="2317090"/>
            <a:ext cx="4023360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 vs Target by month + % within SLA (combo)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04842" y="2271370"/>
            <a:ext cx="2362810" cy="1777594"/>
          </a:xfrm>
          <a:prstGeom prst="roundRect">
            <a:avLst>
              <a:gd name="adj" fmla="val 3086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77994" y="2317090"/>
            <a:ext cx="2216506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 by Job Level: avg / median / P90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6189" y="4197096"/>
            <a:ext cx="2154326" cy="1826971"/>
          </a:xfrm>
          <a:prstGeom prst="roundRect">
            <a:avLst>
              <a:gd name="adj" fmla="val 300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1" y="4242816"/>
            <a:ext cx="2008022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 target by Department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89504" y="4197096"/>
            <a:ext cx="2154326" cy="1826971"/>
          </a:xfrm>
          <a:prstGeom prst="roundRect">
            <a:avLst>
              <a:gd name="adj" fmla="val 300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62656" y="4242816"/>
            <a:ext cx="2008022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 Stage vs SLA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82819" y="4197096"/>
            <a:ext cx="2084832" cy="1826971"/>
          </a:xfrm>
          <a:prstGeom prst="roundRect">
            <a:avLst>
              <a:gd name="adj" fmla="val 300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55971" y="4242816"/>
            <a:ext cx="1938528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requisitions table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80960" y="1234440"/>
            <a:ext cx="4023360" cy="4937760"/>
          </a:xfrm>
          <a:prstGeom prst="roundRect">
            <a:avLst>
              <a:gd name="adj" fmla="val 1818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82128" y="137160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882128" y="1673352"/>
            <a:ext cx="36210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lag gets its own card. It is dead time before the job is posted and never appears in standard time-to-fill.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Avg, median and P90 sit side by side per job level rather than being blended into one number.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combo chart puts % within SLA on a secondary axis, so speed and compliance trends read together.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gap-vs-target bars show the difference, not the absolute — a 40-day Junior and a 90-day Manager role are not comparable.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bottom-right names actual requisitions instead of stopping at aggregates.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avg vs median vs P90 by job level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single average is not enough to promise anything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01968" y="132588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601968" y="1627632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level P90 is close to double the median. The distribution is right-skewed, so the average always overstates the typical experience.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hiring managers the median; plan capacity and buffers off P90.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roles are both the slowest and the least predictable — the widest median-to-P90 spread.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31.3% of requisitions land inside the internal target. The target itself may need revising, not just the process.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590288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82896"/>
            <a:ext cx="10881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FilledReqs = FILTER ( FactRequisition, NOT ISBLANK ( FactRequisition[OfferAcceptedDate] )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Time to Fill    = AVERAGEX ( FilledReqs, FactRequisition[Days to Fill]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Time to Fill = MEDIANX  ( FilledReqs, FactRequisition[Days to Fill]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P90 Time to Fill    = PERCENTILEX.INC ( FilledReqs, FactRequisition[Days to Fill], 0.90 )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calculated column on FactRequisition: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to Fill = IF ( NOT ISBLANK ( FactRequisition[OfferAcceptedDate] ),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DATEDIFF ( FactRequisition[PostedDate], FactRequisition[OfferAcceptedDate], DAY ) 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days in stage vs SLA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calendar actually goes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01968" y="132588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601968" y="1627632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 Review eats 7.7 days against a 4-day SLA — nearly double, and 26.6% of total cycle time.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Extended takes 7.8 days against 3. Candidates wait longest exactly where they are most likely to walk.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Assessment and Panel Interview both run under SLA — the stages usually blamed are not the problem.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Share of Cycle Time uses ALL(DimStage), so the denominator stays the full cycle even with a slicer applied.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590288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82896"/>
            <a:ext cx="10881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Days in Stage = AVERAGE ( FactStageEvent[DaysInStage]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SLA Days    = AVERAGE ( DimStage[SLADays]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Days vs SLA = [Avg Days in Stage] - [Stage SLA Days]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Share of Cycle Time =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DIVIDE (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[Total Stage Days],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CALCULATE ( [Total Stage Days], ALL ( DimStage )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3 — Funnel Leakage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stage damages the pipeline most, and who caused 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161288"/>
            <a:ext cx="7095744" cy="5084064"/>
          </a:xfrm>
          <a:prstGeom prst="roundRect">
            <a:avLst>
              <a:gd name="adj" fmla="val 1439"/>
            </a:avLst>
          </a:prstGeom>
          <a:solidFill>
            <a:srgbClr val="0B0F16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189" y="1382573"/>
            <a:ext cx="1223101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9341" y="1428293"/>
            <a:ext cx="107679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958279" y="1382573"/>
            <a:ext cx="1223101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31431" y="1428293"/>
            <a:ext cx="107679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PER HIRE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320369" y="1382573"/>
            <a:ext cx="1223101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3521" y="1428293"/>
            <a:ext cx="107679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LEAK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82460" y="1382573"/>
            <a:ext cx="1223101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5612" y="1428293"/>
            <a:ext cx="107679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RATE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44550" y="1382573"/>
            <a:ext cx="1223101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17702" y="1428293"/>
            <a:ext cx="107679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COMPANY-CAUSED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96189" y="2271370"/>
            <a:ext cx="2501798" cy="1777594"/>
          </a:xfrm>
          <a:prstGeom prst="roundRect">
            <a:avLst>
              <a:gd name="adj" fmla="val 3086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9341" y="2317090"/>
            <a:ext cx="2355494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by stage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36976" y="2271370"/>
            <a:ext cx="4030675" cy="1777594"/>
          </a:xfrm>
          <a:prstGeom prst="roundRect">
            <a:avLst>
              <a:gd name="adj" fmla="val 3086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10128" y="2317090"/>
            <a:ext cx="3884371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Count (bar) + Leakage Rate (line) — combo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6189" y="4197096"/>
            <a:ext cx="3196742" cy="1826971"/>
          </a:xfrm>
          <a:prstGeom prst="roundRect">
            <a:avLst>
              <a:gd name="adj" fmla="val 300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1" y="4242816"/>
            <a:ext cx="3050438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diagnostics: reached / advanced / pass-through / leakage / days vs SLA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31920" y="4197096"/>
            <a:ext cx="1806854" cy="1826971"/>
          </a:xfrm>
          <a:prstGeom prst="roundRect">
            <a:avLst>
              <a:gd name="adj" fmla="val 3036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05072" y="4242816"/>
            <a:ext cx="1660550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&amp; dropout reasons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77763" y="4197096"/>
            <a:ext cx="1389888" cy="1826971"/>
          </a:xfrm>
          <a:prstGeom prst="roundRect">
            <a:avLst>
              <a:gd name="adj" fmla="val 394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50915" y="4242816"/>
            <a:ext cx="1243584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loss (donut)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80960" y="1234440"/>
            <a:ext cx="4023360" cy="4937760"/>
          </a:xfrm>
          <a:prstGeom prst="roundRect">
            <a:avLst>
              <a:gd name="adj" fmla="val 1818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82128" y="137160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82128" y="1673352"/>
            <a:ext cx="36210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combo chart shows count and rate together. A high rate on a small stage is not the priority; absolute volume is.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Leak Stage card returns a stage name, not a number — a text measure that states the conclusion outright.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diagnostics table puts speed and leakage on the same row per stage.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ResponsibleParty donut separates losses we control from losses we do not.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rate is split out from rejection — a candidate walking away is a process failure, not selection working.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leakage count vs leakage rate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point at small stages; counts point at what is worth fixing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01968" y="132588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601968" y="1627632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Screen and HM Review lose 2,184 candidates between them — this is where a fix moves the number.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Interview has a high rate (43.5%) but only 135 people. Fixing it changes nothing material.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Extended leaks least by volume, yet every person lost there has already consumed weeks of interviewer time.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Leak Stage measure ranks by count, not rate, so its conclusion agrees with this chart.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590288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82896"/>
            <a:ext cx="10881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Worst Leak Stage =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StageLeak =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ADDCOLUMNS ( FILTER ( ALL ( DimStage ), DimStage[StageOrder] &lt; 8 ), "@Lost", [Leakage Count]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Ranked = TOPN ( 1, FILTER ( StageLeak, [@Lost] &gt; 0 ), [@Lost], DESC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CONCATENATEX ( Ranked, DimStage[StageName]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ALL(DimStage) lets the measure scan every stage even when the visual is filtered to one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who owns the leakage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selection working correctly from candidates we lost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01968" y="132588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601968" y="1627632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 of all applications end because the candidate walked away, not because we rejected them.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24.7% of losses are tagged Company — process too slow, salary expectation gaps, location. All of it within our control.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Recruiter and Hiring Manager slices are selection doing its job; that is not leakage to be plugged.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ResponsibleParty is a column on DimRejectReason, so this classification lives in the model and stays consistent across every visual.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590288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82896"/>
            <a:ext cx="10881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Withdrawn Candidates =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 ( COUNTROWS ( FactApplication ), FactApplication[FinalStatus] = "Withdrew"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Withdrawal Rate = DIVIDE ( [Withdrawn Candidates], [Total Applications]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Company-Caused Losses =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 ( COUNTROWS ( FactApplication ), DimRejectReason[ResponsibleParty] = "Company"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Company-Caused Loss Rate = DIVIDE ( [Company-Caused Losses], [Total Applications] 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4 — Source &amp; Channel Effectiveness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easy to buy; yield is what you are actually paying for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161288"/>
            <a:ext cx="7095744" cy="5084064"/>
          </a:xfrm>
          <a:prstGeom prst="roundRect">
            <a:avLst>
              <a:gd name="adj" fmla="val 1439"/>
            </a:avLst>
          </a:prstGeom>
          <a:solidFill>
            <a:srgbClr val="0B0F16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189" y="1382573"/>
            <a:ext cx="1563624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9341" y="1428293"/>
            <a:ext cx="1417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298802" y="1382573"/>
            <a:ext cx="1563624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1954" y="1428293"/>
            <a:ext cx="1417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001414" y="1382573"/>
            <a:ext cx="1563624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74566" y="1428293"/>
            <a:ext cx="1417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RATE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704027" y="1382573"/>
            <a:ext cx="1563624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77179" y="1428293"/>
            <a:ext cx="1417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INTERVIEW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6189" y="2271370"/>
            <a:ext cx="4169664" cy="1777594"/>
          </a:xfrm>
          <a:prstGeom prst="roundRect">
            <a:avLst>
              <a:gd name="adj" fmla="val 3086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341" y="2317090"/>
            <a:ext cx="4023360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(bar) + Yield Rate (line) by source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04842" y="2271370"/>
            <a:ext cx="2362810" cy="1777594"/>
          </a:xfrm>
          <a:prstGeom prst="roundRect">
            <a:avLst>
              <a:gd name="adj" fmla="val 3086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77994" y="2317090"/>
            <a:ext cx="2216506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 yield scatter, bubble = hires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6189" y="4197096"/>
            <a:ext cx="3266237" cy="1826971"/>
          </a:xfrm>
          <a:prstGeom prst="roundRect">
            <a:avLst>
              <a:gd name="adj" fmla="val 300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1" y="4242816"/>
            <a:ext cx="3119933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scorecard: apps / interview reach / hires / yield / vs benchmark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01414" y="4197096"/>
            <a:ext cx="3266237" cy="1826971"/>
          </a:xfrm>
          <a:prstGeom prst="roundRect">
            <a:avLst>
              <a:gd name="adj" fmla="val 300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74566" y="4242816"/>
            <a:ext cx="3119933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matrix: load, hires, TTF, % within SLA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80960" y="1234440"/>
            <a:ext cx="4023360" cy="4937760"/>
          </a:xfrm>
          <a:prstGeom prst="roundRect">
            <a:avLst>
              <a:gd name="adj" fmla="val 1818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82128" y="137160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882128" y="1673352"/>
            <a:ext cx="36210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volume-plus-yield combo prevents the classic error: the channel with the most applications is almost never the best channel.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splits four quadrants — high volume and good, high volume and poor, low volume and good, low volume and poor.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Reach Rate stands in for candidate quality earlier than hires do, because hire counts per channel are small.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vs Benchmark compares against a reference stored in DimSource rather than hardcoded in the visual.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recruiter matrix sits on this page because recruiter workload and channel mix explain each other.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application volume vs yield rate by channel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channel and the best channel are rarely the same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01968" y="132588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601968" y="1627632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Referral sends the most applications (1,812) at a 1.66% yield — high volume, unremarkable conversion.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Hiring has the highest yield (2.64%) on far lower volume. That is the channel worth scaling.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Interview Reach Rate before yield, because hire counts per channel are too small to be statistically stable.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compare against the DimSource benchmark before cutting a channel budget.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590288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82896"/>
            <a:ext cx="10881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Yield Rate = DIVIDE ( [Total Hires], [Total Applications]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 Reaching Interview =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 ( DISTINCTCOUNT ( FactApplication[ApplicationID] ),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FactApplication[FurthestStageOrder] &gt;= 4 )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 Reach Rate = DIVIDE ( [Candidates Reaching Interview], [Total Applications]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vs Benchmark = [Source Yield Rate] - AVERAGE ( DimSource[BenchmarkYieldRate] )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5 — Pipeline Health &amp; Req Aging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open roles are quietly rotting, and whether there is pipeline behind them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161288"/>
            <a:ext cx="7095744" cy="5084064"/>
          </a:xfrm>
          <a:prstGeom prst="roundRect">
            <a:avLst>
              <a:gd name="adj" fmla="val 1439"/>
            </a:avLst>
          </a:prstGeom>
          <a:solidFill>
            <a:srgbClr val="0B0F16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189" y="1382573"/>
            <a:ext cx="1223101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9341" y="1428293"/>
            <a:ext cx="107679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REQS 20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958279" y="1382573"/>
            <a:ext cx="1223101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31431" y="1428293"/>
            <a:ext cx="107679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 65.6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320369" y="1382573"/>
            <a:ext cx="1223101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3521" y="1428293"/>
            <a:ext cx="107679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 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82460" y="1382573"/>
            <a:ext cx="1223101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5612" y="1428293"/>
            <a:ext cx="107679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74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44550" y="1382573"/>
            <a:ext cx="1223101" cy="740664"/>
          </a:xfrm>
          <a:prstGeom prst="roundRect">
            <a:avLst>
              <a:gd name="adj" fmla="val 740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17702" y="1428293"/>
            <a:ext cx="107679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3.7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96189" y="2271370"/>
            <a:ext cx="2710282" cy="1777594"/>
          </a:xfrm>
          <a:prstGeom prst="roundRect">
            <a:avLst>
              <a:gd name="adj" fmla="val 3086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9341" y="2317090"/>
            <a:ext cx="2563978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reqs by aging bucket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45459" y="2271370"/>
            <a:ext cx="2015338" cy="1777594"/>
          </a:xfrm>
          <a:prstGeom prst="roundRect">
            <a:avLst>
              <a:gd name="adj" fmla="val 3086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18611" y="2317090"/>
            <a:ext cx="1869034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 by Priority vs target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99786" y="2271370"/>
            <a:ext cx="1667866" cy="1777594"/>
          </a:xfrm>
          <a:prstGeom prst="roundRect">
            <a:avLst>
              <a:gd name="adj" fmla="val 3289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72938" y="2317090"/>
            <a:ext cx="1521562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outcome mix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6189" y="4197096"/>
            <a:ext cx="3961181" cy="1826971"/>
          </a:xfrm>
          <a:prstGeom prst="roundRect">
            <a:avLst>
              <a:gd name="adj" fmla="val 300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1" y="4242816"/>
            <a:ext cx="3814877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requisition watchlist: age, priority, recruiter, active candidates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96358" y="4197096"/>
            <a:ext cx="2571293" cy="1826971"/>
          </a:xfrm>
          <a:prstGeom prst="roundRect">
            <a:avLst>
              <a:gd name="adj" fmla="val 300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69510" y="4242816"/>
            <a:ext cx="2424989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Department x Stage Group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680960" y="1234440"/>
            <a:ext cx="4023360" cy="4937760"/>
          </a:xfrm>
          <a:prstGeom prst="roundRect">
            <a:avLst>
              <a:gd name="adj" fmla="val 1818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82128" y="137160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82128" y="1673352"/>
            <a:ext cx="36210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open requisitions, averaging 65.6 days old, 5 of them already past 90 days.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coverage ratio of 3.7 active candidates per open role. Below 8, the funnel is too thin to deliver hires on time.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bucket is a calculated column with a separate sort column, so the axis does not fall back to alphabetical order.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watchlist names requisitions — this page is for acting on, not for reading as statistics.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open requisition 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earliest indicator of next month's time-to-fill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01968" y="132588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601968" y="1627632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20 open roles are already past 90 days. These are what will wreck the average once they finally close.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61–90 day bucket is the warning zone — still recoverable by adding pipeline or revising scope.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requisitions are deliberately excluded from time-to-fill because they have no offer date yet. This page is what watches them.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Bucket is a calculated column rather than a measure, so it can serve as both an axis and a slicer.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590288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82896"/>
            <a:ext cx="10881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 Age Days =                                  -- calculated column on FactRequisition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 FactRequisition[ReqStatus] = "Open",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DATEDIFF ( FactRequisition[PostedDate], TODAY (), DAY ),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FactRequisition[Days to Fill] 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Aging Bucket = SWITCH ( TRUE (),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FactRequisition[Req Age Days] &lt;= 30, "0-30 Days", FactRequisition[Req Age Days] &lt;= 60, "31-60 Days",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FactRequisition[Req Age Days] &lt;= 90, "61-90 Days", "90+ Days" )   -- Sort by Aging Bucket Order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Coverage Ratio = DIVIDE ( [Active Candidates], [Open Requisitions] 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inventory: 50 measures across 7 display folders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 lives in the _Measures table, separate from the fact tables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075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Volume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measures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34416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Requisitions · Open · Filled · Cancelled · Total Openings · Total Applications · Total Hires · Applications by Applied Date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020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Time to Fill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276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measures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05740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/ Median / P90 Time to Fill · Avg Approval Lag · Avg Time to Start · Avg Target Days · TTF vs Target · Reqs Within SLA · % Within SLA · TTF PM · TTF MoM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7340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Funnel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9900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measures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27706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Reaching Stage · Candidates Advanced · Pass-Through Rate · Leakage Count · Leakage Rate · Conversion from Applied · Offer Acceptance Rate · Worst Leak Stage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4472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Stage Velocity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7033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measures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348386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in Stage · Total Stage Days · Stage SLA Days · Stage Days vs SLA · Stage Share of Cycle 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87368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160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9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Dropout &amp; Quality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4165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measures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19709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 Candidates · Withdrawal Rate · Company-Caused Losses &amp; Rate · Source Yield Rate · Yield vs Benchmark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8737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Pipeline Health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129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measures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491032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Req Age (Open) · Reqs Aging 90+ Days · Active Candidates · Pipeline Coverage Ratio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513832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55869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Conditional Formatting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8430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measures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154680" y="562356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- Leakage · Color - Time to Fill · Time to Fill Status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dashboard to decision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that now have numeric answers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18488"/>
            <a:ext cx="329184" cy="329184"/>
          </a:xfrm>
          <a:prstGeom prst="ellipse">
            <a:avLst/>
          </a:prstGeom>
          <a:solidFill>
            <a:srgbClr val="EF6461"/>
          </a:solidFill>
          <a:ln w="12700">
            <a:solidFill>
              <a:srgbClr val="EF64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550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624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stage do we fix first?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Leakage Count, not Leakage Rate. Fix the stage that is slow and lossy at the same time.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508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 Review · 863 candidates lost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852928"/>
            <a:ext cx="329184" cy="329184"/>
          </a:xfrm>
          <a:prstGeom prst="ellipse">
            <a:avLst/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8895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596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long can we promise?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26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median for commitments and P90 for capacity planning. Do not use the average for either.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61.5 days · P90 140.4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087368"/>
            <a:ext cx="329184" cy="329184"/>
          </a:xfrm>
          <a:prstGeom prst="ellipse">
            <a:avLst/>
          </a:prstGeom>
          <a:solidFill>
            <a:srgbClr val="2FBF9E"/>
          </a:solidFill>
          <a:ln w="12700">
            <a:solidFill>
              <a:srgbClr val="2FBF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12394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8313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channel do we scale?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1605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Interview Reach Rate first, yield rate second, and compare against benchmark before cutting any budget.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Hiring: 2.64% yield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321808"/>
            <a:ext cx="329184" cy="329184"/>
          </a:xfrm>
          <a:prstGeom prst="ellipse">
            <a:avLst/>
          </a:prstGeom>
          <a:solidFill>
            <a:srgbClr val="8B7BD8"/>
          </a:solidFill>
          <a:ln w="12700">
            <a:solidFill>
              <a:srgbClr val="8B7B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35838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50657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next month be worse?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3949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Pipeline Coverage Ratio and the count of 90+ day requisitions, not this month's time-to-fill.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3.7 · 5 reqs past 90 days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once leakage is measured too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Time-to-fill tells you the process is slow. Leakage tells you where, and whose it 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A213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383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average KPI of 73.6 days. Nobody knows which part to fix.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29260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383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measured stages, with 863 candidates lost in one stage you can name.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22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709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the package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029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Recruiting_Funnel_PBIP  ·  TMDL model with 9 tables and 50 measures  ·  5-page PBIR report  ·  sample CSV data Jan 2024 – Jun 2026  ·  SETUP_GUIDE.md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2026-10-05T06:55:58Z</dcterms:created>
  <dcterms:modified xsi:type="dcterms:W3CDTF">2026-10-05T06:55:58Z</dcterms:modified>
</cp:coreProperties>
</file>